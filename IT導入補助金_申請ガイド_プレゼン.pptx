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88952" cy="2560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IT導入補助金　申請ガイド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37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2CC"/>
                </a:solidFill>
              </a:rPr>
              <a:t>ホームページのオンラインショップ化　申請手順・記入例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6E4F0"/>
                </a:solidFill>
              </a:rPr>
              <a:t>作成：社会保険労務士法人　　　対象：総務担当者・社長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結　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</a:rPr>
              <a:t>まず3点を押さえてください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1430000" cy="2286000"/>
          </a:xfrm>
          <a:prstGeom prst="rect">
            <a:avLst/>
          </a:prstGeom>
          <a:solidFill>
            <a:srgbClr val="FFF2CC"/>
          </a:solidFill>
          <a:ln>
            <a:solidFill>
              <a:srgbClr val="C550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404040"/>
                </a:solidFill>
              </a:rPr>
              <a:t>① EC化（オンラインショップ）はIT導入補助金「通常枠」の対象となり得ます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404040"/>
                </a:solidFill>
              </a:rPr>
              <a:t>② 申請はITベンダー（登録済み）と一緒に行うため、まずベンダー選定が必須です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404040"/>
                </a:solidFill>
              </a:rPr>
              <a:t>③ gBizIDプライムの取得に2〜3週間かかるため、今すぐ申請開始を推奨します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840480"/>
            <a:ext cx="11430000" cy="9144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88620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4E79"/>
                </a:solidFill>
              </a:rPr>
              <a:t>⚠ 重要：IT導入補助金の申請は「先着順」ではなく「公募期間制」です。
    締切を必ず確認し、余裕を持ったスケジュールで進めてください。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937760"/>
            <a:ext cx="530352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983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</a:rPr>
              <a:t>【補助率】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49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04040"/>
                </a:solidFill>
              </a:rPr>
              <a:t>対象経費の1/2以内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4937760"/>
            <a:ext cx="585216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983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</a:rPr>
              <a:t>【補助額】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5349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04040"/>
                </a:solidFill>
              </a:rPr>
              <a:t>5万円〜450万円（類型により異なる）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51967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6E4F0"/>
                </a:solidFill>
              </a:rPr>
              <a:t>※ 本資料は作成時点の情報に基づきます。制度詳細は中小企業庁・IT導入補助金公式サイトをご確認ください。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IT導入補助金とは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</a:rPr>
              <a:t>中小企業・小規模事業者向けITツール導入支援制度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486400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制度概要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404040"/>
                </a:solidFill>
              </a:rPr>
              <a:t>▶ 中小企業庁が所管する補助金制度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04040"/>
                </a:solidFill>
              </a:rPr>
              <a:t>▶ 業務効率化・売上向上に資するITツール導入費用を補助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04040"/>
                </a:solidFill>
              </a:rPr>
              <a:t>▶ ソフトウェア・クラウドサービス・導入費用が対象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04040"/>
                </a:solidFill>
              </a:rPr>
              <a:t>▶ EC（ネットショップ）構築も対象となる場合あり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280160"/>
            <a:ext cx="5486400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主な申請枠（2024年度）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286000"/>
            <a:ext cx="2011680" cy="82296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</a:rPr>
              <a:t>通常枠（A・B類型）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66760" y="2286000"/>
            <a:ext cx="338328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23317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業務効率化・売上拡大向け。
EC構築はこちら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246120"/>
            <a:ext cx="2011680" cy="82296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291839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</a:rPr>
              <a:t>インボイス枠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66760" y="3246120"/>
            <a:ext cx="338328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3291839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インボイス対応ツール専用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206240"/>
            <a:ext cx="2011680" cy="82296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251959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</a:rPr>
              <a:t>セキュリティ枠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66760" y="4206240"/>
            <a:ext cx="338328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4251959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サイバーセキュリティ対策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943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5501B"/>
                </a:solidFill>
              </a:rPr>
              <a:t>※ 制度内容・補助率は年度・公募回により変更されます。申請前に公式サイトを必ず確認してください。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967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6E4F0"/>
                </a:solidFill>
              </a:rPr>
              <a:t>※ 本資料は作成時点の情報に基づきます。制度詳細は中小企業庁・IT導入補助金公式サイトをご確認ください。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申請の流れ（7ステップ）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</a:rPr>
              <a:t>ITベンダーと二人三脚で進めます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365760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STEP 1　gBizIDプライム取得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83080"/>
            <a:ext cx="365760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828800"/>
            <a:ext cx="3429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商工会議所・GビズIDサイトで申請。
発行まで2〜3週間かかるため最優先で着手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280160"/>
            <a:ext cx="365760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59" y="13258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STEP 2　SECURITY ACTION宣言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783080"/>
            <a:ext cx="365760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828800"/>
            <a:ext cx="3429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IPAのサイトで「★一つ星」以上を宣言
（無料・オンライン即日完了）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280160"/>
            <a:ext cx="3657600" cy="502920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3258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STEP 3　ITベンダー・ツール選定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783080"/>
            <a:ext cx="365760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828800"/>
            <a:ext cx="3429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IT導入補助金登録済みベンダーの中から
EC構築ができる業者を選定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657600"/>
            <a:ext cx="3657600" cy="502920"/>
          </a:xfrm>
          <a:prstGeom prst="rect">
            <a:avLst/>
          </a:prstGeom>
          <a:solidFill>
            <a:srgbClr val="C55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703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STEP 4　交付申請（ベンダーと共同）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160520"/>
            <a:ext cx="365760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4206240"/>
            <a:ext cx="3429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事業計画・導入効果を記入して電子申請
審査期間：約1〜2か月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3657600"/>
            <a:ext cx="3657600" cy="502920"/>
          </a:xfrm>
          <a:prstGeom prst="rect">
            <a:avLst/>
          </a:prstGeom>
          <a:solidFill>
            <a:srgbClr val="C55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59" y="3703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STEP 5　採択通知・交付決定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4160520"/>
            <a:ext cx="365760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4206240"/>
            <a:ext cx="3429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採択後に交付決定通知が届く
※採択前の発注・支払いは補助対象外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3657600"/>
            <a:ext cx="3657600" cy="502920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3703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STEP 6　契約・発注・支払い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4160520"/>
            <a:ext cx="365760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80" y="4206240"/>
            <a:ext cx="3429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交付決定後に正式契約・支払いを実施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6035040"/>
            <a:ext cx="365760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08075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STEP 7　実績報告・補助金受領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6537959"/>
            <a:ext cx="365760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6583679"/>
            <a:ext cx="3429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完了報告をシステムで提出
審査後に補助金が振り込まれる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20" y="3657600"/>
            <a:ext cx="365760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60" y="3703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STEP 7　実績報告・補助金受領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4160520"/>
            <a:ext cx="365760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83879" y="4206240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完了報告をシステムで提出
審査後に補助金が振り込まれる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51967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6E4F0"/>
                </a:solidFill>
              </a:rPr>
              <a:t>※ 本資料は作成時点の情報に基づきます。制度詳細は中小企業庁・IT導入補助金公式サイトをご確認ください。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申請書　主な記入項目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</a:rPr>
              <a:t>交付申請フォーム（ITツール導入支援事業 申請マイページ）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57784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53949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① 企業・事業者情報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557784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✔ 法人名・代表者名・所在地・資本金・従業員数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✔ 業種（日本標準産業分類）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✔ 直近の決算情報（売上高・経常利益）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80160"/>
            <a:ext cx="557784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25880"/>
            <a:ext cx="53949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② 導入するITツール情報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737360"/>
            <a:ext cx="557784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8308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✔ ベンダー名・ツール名（登録済みリストから選択）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✔ 導入費用の内訳（ソフト費・クラウド費・導入支援費など）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✔ ツールの機能カテゴリ（EC・販売管理 等）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49039"/>
            <a:ext cx="557784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794759"/>
            <a:ext cx="53949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③ 事業計画・導入効果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206240"/>
            <a:ext cx="557784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251959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✔ 現状の課題（例：受注がすべて電話・FAXで非効率）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✔ ITツール導入後の業務改善内容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✔ 定量的目標（売上○%向上・業務時間○時間削減 など）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749039"/>
            <a:ext cx="557784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794759"/>
            <a:ext cx="53949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④ セキュリティ・誓約事項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206240"/>
            <a:ext cx="557784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251959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✔ SECURITY ACTION宣言済み証明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✔ 労働生産性の伸び率目標（3年後）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✔ 不正受給をしない旨の誓約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51967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6E4F0"/>
                </a:solidFill>
              </a:rPr>
              <a:t>※ 本資料は作成時点の情報に基づきます。制度詳細は中小企業庁・IT導入補助金公式サイトをご確認ください。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記入例（見本）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</a:rPr>
              <a:t>③ 事業計画・導入効果　のイメージ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1430000" cy="4937760"/>
          </a:xfrm>
          <a:prstGeom prst="rect">
            <a:avLst/>
          </a:prstGeom>
          <a:solidFill>
            <a:srgbClr val="FFFFFF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</a:rPr>
              <a:t>【記入例】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2560320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013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現状の課題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1783080"/>
            <a:ext cx="8595360" cy="3200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1801368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</a:rPr>
              <a:t>現状の課題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11201400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12140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当社のホームページは情報掲示のみで、商品購入は電話・FAXのみ対応。
受注処理に1日平均2時間を要しており、休日・夜間の注文に対応できていない。
機会損失が年間推定○○万円と試算される。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44952"/>
            <a:ext cx="2560320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63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導入するITツール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63240" y="3044952"/>
            <a:ext cx="8595360" cy="3200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306324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</a:rPr>
              <a:t>導入するITツール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364992"/>
            <a:ext cx="11201400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3832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○○社提供のECプラットフォーム「△△」を導入し、自社HPにEC機能を実装。
商品管理・在庫管理・決済処理・顧客管理を一元化する。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306824"/>
            <a:ext cx="2560320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3251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導入後の改善内容と目標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63240" y="4306824"/>
            <a:ext cx="8595360" cy="3200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54680" y="4325112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</a:rPr>
              <a:t>導入後の改善内容と目標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626864"/>
            <a:ext cx="11201400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64515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・24時間365日の受注対応が可能になり、受注機会を拡大
・受注処理時間を現状比 50%削減（2時間→1時間/日）
・導入1年後に売上高 15%向上（運用差あり・仮定値）を目指す
・労働生産性：3年後に 3%以上向上（申請要件）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5501B"/>
                </a:solidFill>
              </a:rPr>
              <a:t>※ 数値は仮定値です。実際の申請では自社の実績データを入力してください。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51967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6E4F0"/>
                </a:solidFill>
              </a:rPr>
              <a:t>※ 本資料は作成時点の情報に基づきます。制度詳細は中小企業庁・IT導入補助金公式サイトをご確認ください。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注意点・リスク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</a:rPr>
              <a:t>申請前に必ず確認してください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457200" cy="1005840"/>
          </a:xfrm>
          <a:prstGeom prst="rect">
            <a:avLst/>
          </a:prstGeom>
          <a:solidFill>
            <a:srgbClr val="C55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39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280160"/>
            <a:ext cx="3200400" cy="4114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32588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採択前の発注・支払いは補助対象外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691639"/>
            <a:ext cx="1092708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1907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交付決定通知を受け取る前に契約・支払いをした場合、全額自己負担になります。
ITベンダーへの発注は必ず採択通知後に行ってください。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14600"/>
            <a:ext cx="457200" cy="1005840"/>
          </a:xfrm>
          <a:prstGeom prst="rect">
            <a:avLst/>
          </a:prstGeom>
          <a:solidFill>
            <a:srgbClr val="C55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69748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514600"/>
            <a:ext cx="3200400" cy="4114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5603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登録ITベンダー以外は対象外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2926080"/>
            <a:ext cx="1092708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95351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補助金対象のITツールは「IT導入支援事業者」として登録されたベンダーのツールのみです。
見積もりを取るベンダーが登録済みか事前に確認してください。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49039"/>
            <a:ext cx="457200" cy="1005840"/>
          </a:xfrm>
          <a:prstGeom prst="rect">
            <a:avLst/>
          </a:prstGeom>
          <a:solidFill>
            <a:srgbClr val="C55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93192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3749039"/>
            <a:ext cx="3200400" cy="4114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794759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公募期間・締切の確認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4160520"/>
            <a:ext cx="1092708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18795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IT導入補助金は複数回の公募があり、締切を過ぎると次回まで申請できません。
最新のスケジュールを公式サイトで確認してください。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983480"/>
            <a:ext cx="457200" cy="1005840"/>
          </a:xfrm>
          <a:prstGeom prst="rect">
            <a:avLst/>
          </a:prstGeom>
          <a:solidFill>
            <a:srgbClr val="C55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516636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4983480"/>
            <a:ext cx="3200400" cy="4114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02920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事業計画の定量目標が必須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5394960"/>
            <a:ext cx="1092708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4223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04040"/>
                </a:solidFill>
              </a:rPr>
              <a:t>売上向上・業務時間削減などの数値目標が求められます。
根拠のある数字を用意してください（「仮定」の場合はその旨記載）。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51967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6E4F0"/>
                </a:solidFill>
              </a:rPr>
              <a:t>※ 本資料は作成時点の情報に基づきます。制度詳細は中小企業庁・IT導入補助金公式サイトをご確認ください。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次のアクション　チェックリスト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</a:rPr>
              <a:t>今日からできることから着手してください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577840" cy="502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【貴社がやること】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□ gBizIDプライムを今すぐ申請する（2〜3週間）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□ IPAサイトでSECURITY ACTION★一つ星を宣言する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□ 自社の現状課題・売上データを整理する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□ 登録ITベンダーから見積りを3社以上取得する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□ 公募スケジュール（締切日）を確認し社内共有する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□ 事業計画の数値目標を担当者と社長で合意する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5577840" cy="50292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258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【当法人がサポートできること】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✔ 申請書の事業計画文章のレビュー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✔ 労働生産性指標の計算サポート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✔ 書類チェックリストの提供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✔ gBizID取得手順のご案内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※ IT導入補助金の申請実務は
   ITベンダーまたは認定支援機関が
   主体となります。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04040"/>
                </a:solidFill>
              </a:rPr>
              <a:t>   必要に応じて専門機関をご紹介します。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51967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6E4F0"/>
                </a:solidFill>
              </a:rPr>
              <a:t>※ 本資料は作成時点の情報に基づきます。制度詳細は中小企業庁・IT導入補助金公式サイトをご確認ください。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参考情報・お問い合わせ先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E4F0"/>
                </a:solidFill>
              </a:rPr>
              <a:t>一次情報を必ずご確認ください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143000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20040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IT導入補助金 公式サイト（中小企業庁）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64207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5B6"/>
                </a:solidFill>
              </a:rPr>
              <a:t>https://it-shien.smrj.go.jp/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3852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最新の公募要領・対象ツール一覧・申請マイページはこちら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14600"/>
            <a:ext cx="1143000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514600"/>
            <a:ext cx="320040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603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GビズID（gBizIDプライム取得）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986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5B6"/>
                </a:solidFill>
              </a:rPr>
              <a:t>https://gbiz-id.go.jp/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17296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申請にはgBizIDプライムが必須。今すぐ取得申請を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49039"/>
            <a:ext cx="1143000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749039"/>
            <a:ext cx="320040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794759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SECURITY ACTION（IPA）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33087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5B6"/>
                </a:solidFill>
              </a:rPr>
              <a:t>https://www.ipa.go.jp/security/security-action/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407407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★一つ星の宣言はオンラインで即日完了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983480"/>
            <a:ext cx="1143000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983480"/>
            <a:ext cx="320040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029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中小企業基盤整備機構　相談窓口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36752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5B6"/>
                </a:solidFill>
              </a:rPr>
              <a:t>https://www.smrj.go.jp/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6418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IT導入補助金に関する無料相談が可能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51967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6E4F0"/>
                </a:solidFill>
              </a:rPr>
              <a:t>本資料の内容は情報提供を目的としています。申請手続きの詳細は必ず公式情報をご確認のうえ、ITベンダーと連携して進めてください。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